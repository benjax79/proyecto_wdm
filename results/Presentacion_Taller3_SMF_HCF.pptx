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[TIEMPO: 0:00 - 0:30 | Orador 1]</a:t>
            </a:r>
          </a:p>
          <a:p>
            <a:r>
              <a:t>Buenos días/tardes profesor Nicolás Jara y compañeros. Somos Fernanda Manríquez, Josefa Zamora y Benjamín Abde.</a:t>
            </a:r>
          </a:p>
          <a:p>
            <a:r>
              <a:t>Hoy presentamos nuestro avance y demostración del Taller 3: el estudio y simulador estático de migración progresiva de fibra monomodo estándar (SMF) a fibra de núcleo hueco (HCF) en Redes Ópticas Elásticas sobre Banda C, evaluando los tres caminos de actualización propuestos en clases bajo igualdad de presupuesto CAPEX.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[TIEMPO: 0:30 - 2:00 | Orador 1 - Parte C (10 pts)]</a:t>
            </a:r>
          </a:p>
          <a:p>
            <a:r>
              <a:t>Siguiendo directamente el feedback recibido en el Taller 2, realizamos cinco reajustes estructurales obligatorios:</a:t>
            </a:r>
          </a:p>
          <a:p>
            <a:r>
              <a:t>1) Primero, pasamos de una simulación dinámica de eventos discretos a una planificación estática por fotografías anuales desde el año k=0 hasta k=8.</a:t>
            </a:r>
          </a:p>
          <a:p>
            <a:r>
              <a:t>2) Segundo, reemplazamos la probabilidad de bloqueo instantánea por el conteo exacto de Conexiones Fuera de la matriz anual y el Tráfico No Atendido en Terabits por segundo, distinguiendo si un rechazo ocurre por GSNR insuficiente o por falta de slots contiguos.</a:t>
            </a:r>
          </a:p>
          <a:p>
            <a:r>
              <a:t>3) Tercero, implementamos el modelo físico exacto de acumulación inversa paralela de GSNR por span de 100 km sobre los 320 FSUs de Banda C.</a:t>
            </a:r>
          </a:p>
          <a:p>
            <a:r>
              <a:t>4) Cuarto, ampliamos el análisis a los tres caminos sugeridos por el profesor: reemplazo del enlace, fibra HCF paralela para no dejar dark fiber, y enlaces nuevos bypass.</a:t>
            </a:r>
          </a:p>
          <a:p>
            <a:r>
              <a:t>5) Quinto, justificamos la tasa anual del 30% base y su sensibilidad en 24% y 32% con datos reales de TeleGeography.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[TIEMPO: 2:00 - 3:15 | Orador 1 - Parte A (40 pts)]</a:t>
            </a:r>
          </a:p>
          <a:p>
            <a:r>
              <a:t>En la capa física respetamos la Invariante Fundamental de Banda C: tanto SMF como HCF poseen exactamente 320 Frequency Slot Units de 12.5 GHz. Instalar HCF no inventa nuevos slots en la fibra; lo que hace es disminuir la atenuación y prácticamente eliminar la no linealidad de Kerr, aportando una ganancia de +4.0 dB de GSNR por cada span de 100 km.</a:t>
            </a:r>
          </a:p>
          <a:p>
            <a:r>
              <a:t>Usando la fórmula de suma paralela inversa de ruido de Pedro et al., el motor calcula el GSNR extremo a extremo de cada ruta híbrida y consulta la tabla oficial de modulaciones. Observen las filas resaltadas: para una demanda de 400 Gbps, subir de QPSK a 16-QAM reduce el consumo de 16 slots a solo 8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[TIEMPO: 3:15 - 4:00 | Orador 2 - Parte A (40 pts)]</a:t>
            </a:r>
          </a:p>
          <a:p>
            <a:r>
              <a:t>Aquí mostramos los resultados de la prueba de validación física TEST-02 generados por nuestro módulo physics_qot.py.</a:t>
            </a:r>
          </a:p>
          <a:p>
            <a:r>
              <a:t>A la izquierda observamos la caída logarítmica del GSNR con el número de spans y los escalones de consumo de FSUs.</a:t>
            </a:r>
          </a:p>
          <a:p>
            <a:r>
              <a:t>A la derecha vemos dos rutas reales de NSFNet: en una ruta de 1800 km (18 spans), basta con migrar la mitad de los spans a HCF para pasar de 13.89 dB a 15.44 dB, saltando de 8-QAM a 16-QAM. Y en una ruta transcontinental de 3600 km (36 spans), pasar de SMF a HCF sube el GSNR de 10.88 dB (QPSK, 16 FSUs) a 14.88 dB (16-QAM, 8 FSUs), liberando exactamente el 50% del espectro.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[TIEMPO: 4:00 - 5:00 | Orador 2 - Parte A (40 pts) + Demo Interactiva]</a:t>
            </a:r>
          </a:p>
          <a:p>
            <a:r>
              <a:t>Sobre la topología NSFNet de 14 nodos y 21 enlaces, nuestro motor RMLSA estático opera en cuatro etapas deterministas para cada fotografía anual k:</a:t>
            </a:r>
          </a:p>
          <a:p>
            <a:r>
              <a:t>Primero cuantiza la matriz D(k) en transpondedores discretos; segundo, ordena las solicitudes por el producto Bitrate por distancia; tercero, evalúa las k=3 rutas más cortas de Yen seleccionando la mejor modulación factible; y cuarto, ejecuta First-Fit buscando el primer bloque contiguo y continuo libre en los 320 slots.</a:t>
            </a:r>
          </a:p>
          <a:p>
            <a:r>
              <a:t>En la auditoría TEST-01 del año base k=0 con red 100% SMF, las 71 conexiones (18.80 Tbps) se asignan con 0 rechazos y 0 colisiones, dejando el enlace central e7_8 al 65.6% de ocupación, listo para observar la saturación en los años siguientes.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[TIEMPO: 5:00 - 5:45 | Orador 2 - Parte A/B]</a:t>
            </a:r>
          </a:p>
          <a:p>
            <a:r>
              <a:t>Para comparar de manera justa los tres caminos propuestos por el profesor, definimos un modelo de costos CAPEX común en Unidades Relativas: 1 UR por kilómetro de fibra HCF, 15 UR por amplificador adaptado en cada span, y un costo fijo de instalación de 50 UR cuando se usa el ducto existente (Caminos 1 y 2) o 150 UR cuando se requiere obra civil o nuevo derecho de paso en un enlace bypass (Camino 3).</a:t>
            </a:r>
          </a:p>
          <a:p>
            <a:r>
              <a:t>En todos los casos fijamos exactamente el mismo techo presupuestario acumulado de 8500 UR para el horizonte de 8 años, y nuestra heurística voraz elige en cada año la intervención que maximiza la reducción de conexiones fuera dividida por su costo C(e).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[TIEMPO: 5:45 - 6:45 | Orador 3 - Parte B (50 pts)]</a:t>
            </a:r>
          </a:p>
          <a:p>
            <a:r>
              <a:t>Pasando a los resultados preliminares (Parte B), en el Experimento 1 evaluamos la red 100% SMF sin ninguna migración para las tres tasas de TeleGeography: 24%, 30% base y 32%.</a:t>
            </a:r>
          </a:p>
          <a:p>
            <a:r>
              <a:t>En los años k=0 y k=1 hay cero conexiones fuera, pero el enlace central e7_8 ya alcanza un 95.6% de ocupación en k=1.</a:t>
            </a:r>
          </a:p>
          <a:p>
            <a:r>
              <a:t>En k=2 ocurre el quiebre con 31 conexiones fuera, escalando a 182 conexiones fuera en k=4 y 902 en k=8 (un total acumulado de 2720 rechazos).</a:t>
            </a:r>
          </a:p>
          <a:p>
            <a:r>
              <a:t>Un hallazgo fundamental del clasificador de nuestro simulador es que el 100% de estos rechazos ocurre por agotamiento de los 320 slots espectrales: en SMF las rutas largas son físicamente viables pero solo alcanzan QPSK u 8-QAM, consumiendo el doble de espectro y saturando los enlaces centrales.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[TIEMPO: 6:45 - 7:45 | Orador 3 - Parte B (50 pts)]</a:t>
            </a:r>
          </a:p>
          <a:p>
            <a:r>
              <a:t>En el Experimento 2 evaluamos el Camino 1 (reemplazo de SMF por HCF) comparando dos políticas bajo el mismo presupuesto de 8500 UR: el baseline clásico que migra el enlace con más slots ocupados (Mayor Utilización) versus nuestra heurística voraz de costo-beneficio.</a:t>
            </a:r>
          </a:p>
          <a:p>
            <a:r>
              <a:t>Como se aprecia en las curvas, la heurística voraz logra reducir las conexiones fuera acumuladas de 2720 a 2306, superando por 110 conexiones y +23.6 Terabits por segundo al criterio de mayor utilización.</a:t>
            </a:r>
          </a:p>
          <a:p>
            <a:r>
              <a:t>¿Por qué ocurre esto? Porque un enlace puede estar muy lleno de conexiones regionales cortas que ya operan en 32-QAM y no ahorran slots al pasar a HCF; en cambio, la heurística voraz detecta qué enlace específico hace que múltiples rutas largas crucen el umbral de 14 dB hacia 16-QAM.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[TIEMPO: 7:45 - 9:00 | Orador 3 - Parte B (50 pts)]</a:t>
            </a:r>
          </a:p>
          <a:p>
            <a:r>
              <a:t>En el Experimento 3 presentamos la comparación central del Taller 3: los tres caminos evaluados bajo el mismo límite de presupuesto CAPEX de 8500 UR.</a:t>
            </a:r>
          </a:p>
          <a:p>
            <a:r>
              <a:t>1) En el Camino 1 (línea azul), reemplazar SMF por HCF reduce las conexiones fuera en un 15.2% gracias al salto de modulación, pero a partir de k=4 los 320 slots únicos vuelven a llenarse.</a:t>
            </a:r>
          </a:p>
          <a:p>
            <a:r>
              <a:t>2) En el Camino 2 (línea verde), conservar la fibra SMF activa e iluminar fibra HCF paralela en los cuellos de botella mantiene CERO conexiones fuera hasta el año k=4 inclusive, reduciendo los rechazos acumulados en un 46.3% (de 2720 a 1461) y cursando 526.9 Terabits por segundo.</a:t>
            </a:r>
          </a:p>
          <a:p>
            <a:r>
              <a:t>3) Y en el Camino 3 (línea morada), construir apenas 3 enlaces bypass directos de larga distancia (e4_8, e4_11 y e1_11) logra una reducción del 36.1% en conexiones fuera con el menor gasto de CAPEX (7810 UR), ya que cada bypass evita atravesar entre 3 y 4 enlaces centrales congestionados.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[TIEMPO: 9:00 - 10:00 | Todos / Cierre]</a:t>
            </a:r>
          </a:p>
          <a:p>
            <a:r>
              <a:t>Para concluir:</a:t>
            </a:r>
          </a:p>
          <a:p>
            <a:r>
              <a:t>1) Contamos con el simulador estático EON y el dashboard visual 100% operativos, validados sin colisiones espectrales y cumpliendo estrictamente la invariante de 320 FSUs en Banda C.</a:t>
            </a:r>
          </a:p>
          <a:p>
            <a:r>
              <a:t>2) Demostramos cuantitativamente que, bajo el mismo presupuesto CAPEX, la estrategia voraz supera al baseline de utilización, y que los Caminos 2 (HCF Paralela activa) y 3 (Bypass HCF directo) reducen las conexiones fuera en un 46.3% y 36.1% respectivamente, frente al 15.2% del reemplazo puro.</a:t>
            </a:r>
          </a:p>
          <a:p>
            <a:r>
              <a:t>3) Hacia el informe final extenderemos estas simulaciones a la topología europea COST239 (que ya está cargada en nuestro código) y evaluaremos estrategias mixtas combinando los 3 caminos.</a:t>
            </a:r>
          </a:p>
          <a:p>
            <a:r>
              <a:t>Muchas gracias, quedamos atentos a sus preguntas y podemos mostrar cualquier enlace o año en vivo en el simulador.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94360"/>
            <a:ext cx="5303520" cy="43891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EE7B7"/>
                </a:solidFill>
              </a:defRPr>
            </a:pPr>
            <a:r>
              <a:t>UTFSM · TEL-317 REDES ÓPTICAS WDM · TALLER 3 (AVANCE Y DEMO)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Migración Progresiva de SMF a HCF en Redes Ópticas Elásticas Estáticas sobre Banda C</a:t>
            </a:r>
          </a:p>
          <a:p>
            <a:pPr>
              <a:defRPr sz="1600">
                <a:solidFill>
                  <a:srgbClr val="94A3B8"/>
                </a:solidFill>
                <a:latin typeface="Calibri"/>
              </a:defRPr>
            </a:pPr>
            <a:r>
              <a:t>Planificación Multi-Año (k = 0..8) basada en GSNR Acumulado por Span y Evaluación en Igualdad de CAPEX de 3 Caminos: Reemplazo SMF→HCF, Fibra HCF Paralela y Bypass Directo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794760"/>
            <a:ext cx="2514600" cy="12344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886200"/>
            <a:ext cx="2240280" cy="1069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475569"/>
                </a:solidFill>
                <a:latin typeface="Calibri"/>
              </a:defRPr>
            </a:pPr>
            <a:r>
              <a:t>INVARIANTE BANDA C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200" b="1">
                <a:solidFill>
                  <a:srgbClr val="0284C7"/>
                </a:solidFill>
                <a:latin typeface="Calibri"/>
              </a:defRPr>
            </a:pPr>
            <a:r>
              <a:t>320 FSUs</a:t>
            </a:r>
          </a:p>
          <a:p>
            <a:pPr>
              <a:defRPr sz="950" b="1">
                <a:solidFill>
                  <a:srgbClr val="0F172A"/>
                </a:solidFill>
                <a:latin typeface="Calibri"/>
              </a:defRPr>
            </a:pPr>
            <a:r>
              <a:t>Grilla Flex-Grid 12.5 GHz (4 THz)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3794760"/>
            <a:ext cx="2514600" cy="12344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79" y="3886200"/>
            <a:ext cx="2240280" cy="1069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475569"/>
                </a:solidFill>
                <a:latin typeface="Calibri"/>
              </a:defRPr>
            </a:pPr>
            <a:r>
              <a:t>GANANCIA FÍSICA HCF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200" b="1">
                <a:solidFill>
                  <a:srgbClr val="059669"/>
                </a:solidFill>
                <a:latin typeface="Calibri"/>
              </a:defRPr>
            </a:pPr>
            <a:r>
              <a:t>+4.0 dB/span</a:t>
            </a:r>
          </a:p>
          <a:p>
            <a:pPr>
              <a:defRPr sz="950" b="1">
                <a:solidFill>
                  <a:srgbClr val="0F172A"/>
                </a:solidFill>
                <a:latin typeface="Calibri"/>
              </a:defRPr>
            </a:pPr>
            <a:r>
              <a:t>Hasta -50% FSUs (QPSK → 16-QAM)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794760"/>
            <a:ext cx="2514600" cy="12344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3886200"/>
            <a:ext cx="2240280" cy="1069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475569"/>
                </a:solidFill>
                <a:latin typeface="Calibri"/>
              </a:defRPr>
            </a:pPr>
            <a:r>
              <a:t>MEJOR ESTRATEGIA (CAMINO 2)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200" b="1">
                <a:solidFill>
                  <a:srgbClr val="059669"/>
                </a:solidFill>
                <a:latin typeface="Calibri"/>
              </a:defRPr>
            </a:pPr>
            <a:r>
              <a:t>-46.3% Bloqueo</a:t>
            </a:r>
          </a:p>
          <a:p>
            <a:pPr>
              <a:defRPr sz="950" b="1">
                <a:solidFill>
                  <a:srgbClr val="0F172A"/>
                </a:solidFill>
                <a:latin typeface="Calibri"/>
              </a:defRPr>
            </a:pPr>
            <a:r>
              <a:t>0 Fuera hasta k=4 | +141.3 Tbps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3794760"/>
            <a:ext cx="2514600" cy="12344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2540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3886200"/>
            <a:ext cx="2240280" cy="1069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475569"/>
                </a:solidFill>
                <a:latin typeface="Calibri"/>
              </a:defRPr>
            </a:pPr>
            <a:r>
              <a:t>BYPASS DIRECTO (CAMINO 3)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200" b="1">
                <a:solidFill>
                  <a:srgbClr val="7E22CE"/>
                </a:solidFill>
                <a:latin typeface="Calibri"/>
              </a:defRPr>
            </a:pPr>
            <a:r>
              <a:t>-36.1% Bloqueo</a:t>
            </a:r>
          </a:p>
          <a:p>
            <a:pPr>
              <a:defRPr sz="950" b="1">
                <a:solidFill>
                  <a:srgbClr val="0F172A"/>
                </a:solidFill>
                <a:latin typeface="Calibri"/>
              </a:defRPr>
            </a:pPr>
            <a:r>
              <a:t>3 Enlaces Nuevos | 7810 UR CAPEX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349240"/>
            <a:ext cx="1060704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Equipo: Fernanda Manríquez  ·  Josefa Zamora  ·  Benjamín Abde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Profesor: Dr. Nicolás Jara  |  Topología de Referencia: NSFNet (14 Nodos, 21 Enlaces)  |  Noviembre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91695" cy="457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77824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1. Reajuste Metodológico tras Feedback del Taller 2</a:t>
            </a:r>
          </a:p>
          <a:p>
            <a:pPr>
              <a:defRPr sz="1150">
                <a:solidFill>
                  <a:srgbClr val="CBD5E1"/>
                </a:solidFill>
                <a:latin typeface="Calibri"/>
              </a:defRPr>
            </a:pPr>
            <a:r>
              <a:t>Alineación estricta con las correcciones del Profesor: de simulación dinámica a planificación estática anual EON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201168"/>
            <a:ext cx="2468880" cy="530352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PARTE C: 10 PTS</a:t>
            </a:r>
            <a:br/>
            <a:r>
              <a:t>Min 0:30 – 2:00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143000"/>
          <a:ext cx="11365991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3977639"/>
                <a:gridCol w="5239512"/>
              </a:tblGrid>
              <a:tr h="723900"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Dimensión Técnica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Propuesta Original (Taller 2)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Redefinición Validada e Implementada (Taller 3)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72390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 Paradigma de</a:t>
                      </a:r>
                      <a:br/>
                      <a:r>
                        <a:t>Simulación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1000" b="0">
                          <a:solidFill>
                            <a:srgbClr val="E11D48"/>
                          </a:solidFill>
                          <a:latin typeface="Calibri"/>
                        </a:defRPr>
                      </a:pPr>
                      <a:r>
                        <a:t>Simulación dinámica de eventos discretos (colas de llegadas/salidas) con umbral de corte en 1% de bloqueo.</a:t>
                      </a:r>
                    </a:p>
                  </a:txBody>
                  <a:tcPr anchor="ctr">
                    <a:solidFill>
                      <a:srgbClr val="FFE4E6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Planificación Estática por Fotografías Anuales (k = 0..8): En cada año k se asigna la matriz completa D(k) desde cero sobre los 320 FSUs de Banda C.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</a:tr>
              <a:tr h="72390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2. Métrica Principal</a:t>
                      </a:r>
                      <a:br/>
                      <a:r>
                        <a:t>de Desempeño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1000" b="0">
                          <a:solidFill>
                            <a:srgbClr val="E11D48"/>
                          </a:solidFill>
                          <a:latin typeface="Calibri"/>
                        </a:defRPr>
                      </a:pPr>
                      <a:r>
                        <a:t>Probabilidad de bloqueo instantánea (B = N_bloq / N_sol).</a:t>
                      </a:r>
                    </a:p>
                  </a:txBody>
                  <a:tcPr anchor="ctr">
                    <a:solidFill>
                      <a:srgbClr val="FFE4E6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Conexiones Fuera (Rechazadas) y Tráfico No Atendido [Tbps], clasificando explícitamente la causa: Capa Física (GSNR) vs. Saturación Espectral.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</a:tr>
              <a:tr h="72390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3. Modelo Físico y</a:t>
                      </a:r>
                      <a:br/>
                      <a:r>
                        <a:t>Grilla Espectral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1000" b="0">
                          <a:solidFill>
                            <a:srgbClr val="E11D48"/>
                          </a:solidFill>
                          <a:latin typeface="Calibri"/>
                        </a:defRPr>
                      </a:pPr>
                      <a:r>
                        <a:t>Modelo de calidad de transmisión abstracto sin acumulación física por span.</a:t>
                      </a:r>
                    </a:p>
                  </a:txBody>
                  <a:tcPr anchor="ctr">
                    <a:solidFill>
                      <a:srgbClr val="FFE4E6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Suma Paralela Inversa de GSNR por span (Pedro et al. [1]) y grilla Flex-Grid ITU-T de 320 FSUs (12.5 GHz) con modulaciones BPSK a 64-QAM.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</a:tr>
              <a:tr h="72390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4. Estrategias de</a:t>
                      </a:r>
                      <a:br/>
                      <a:r>
                        <a:t>Despliegue HCF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1000" b="0">
                          <a:solidFill>
                            <a:srgbClr val="E11D48"/>
                          </a:solidFill>
                          <a:latin typeface="Calibri"/>
                        </a:defRPr>
                      </a:pPr>
                      <a:r>
                        <a:t>Únicamente reemplazo voraz de enlaces completos SMF por HCF.</a:t>
                      </a:r>
                    </a:p>
                  </a:txBody>
                  <a:tcPr anchor="ctr">
                    <a:solidFill>
                      <a:srgbClr val="FFE4E6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Comparación en Igualdad de CAPEX de 3 Caminos: (1) Reemplazo SMF→HCF, (2) Fibra HCF Paralela activa (sin dark fiber), y (3) Enlace Bypass HCF directo.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</a:tr>
              <a:tr h="72390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5. Evolución Anual</a:t>
                      </a:r>
                      <a:br/>
                      <a:r>
                        <a:t>del Tráfico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1000" b="0">
                          <a:solidFill>
                            <a:srgbClr val="E11D48"/>
                          </a:solidFill>
                          <a:latin typeface="Calibri"/>
                        </a:defRPr>
                      </a:pPr>
                      <a:r>
                        <a:t>Incremento del 30% por etapa sin vinculación a años calendario ni fuentes globales.</a:t>
                      </a:r>
                    </a:p>
                  </a:txBody>
                  <a:tcPr anchor="ctr">
                    <a:solidFill>
                      <a:srgbClr val="FFE4E6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Crecimiento Anual Respaldado por TeleGeography [5]: D(k) = D(0)·(1+r)^k con r = 30% base [4] y análisis de sensibilidad en r = 24% y r = 32%.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11480" y="5596128"/>
            <a:ext cx="11365992" cy="8412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5724144"/>
            <a:ext cx="1103680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059669"/>
                </a:solidFill>
                <a:latin typeface="Calibri"/>
              </a:defRPr>
            </a:pPr>
            <a:r>
              <a:t>Síntesis del Reajuste Metodológico: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La migración SMF → HCF es una decisión de inversión de infraestructura multi-año (CAPEX). Por ello, un planificador estático determinista por fotografías anuales refleja fielmente la ingeniería de capacidad de un operador de transporte óptico.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37960"/>
            <a:ext cx="113659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Calibri"/>
              </a:defRPr>
            </a:pPr>
            <a:r>
              <a:t>TEL-317 Redes Ópticas WDM (UTFSM)  |  Taller 3: Migración Progresiva SMF a HCF en EON  |  Manríquez · Zamora · Abde  |  Diapositiva 2 de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91695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77824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2. Capa Física EON: Acumulación de GSNR e Invariante de 320 FSUs</a:t>
            </a:r>
          </a:p>
          <a:p>
            <a:pPr>
              <a:defRPr sz="1150">
                <a:solidFill>
                  <a:srgbClr val="CBD5E1"/>
                </a:solidFill>
                <a:latin typeface="Calibri"/>
              </a:defRPr>
            </a:pPr>
            <a:r>
              <a:t>Modelo físico en Banda C (4.0 THz, grilla de 12.5 GHz) y tabla oficial de formatos de modulación adaptativos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201168"/>
            <a:ext cx="2468880" cy="5303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PARTE A: 40 PTS</a:t>
            </a:r>
            <a:br/>
            <a:r>
              <a:t>Min 2:00 – 3:15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5257800" cy="2423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271016"/>
            <a:ext cx="4928616" cy="2203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0284C7"/>
                </a:solidFill>
                <a:latin typeface="Calibri"/>
              </a:defRPr>
            </a:pPr>
            <a:r>
              <a:t>Invariante Física #1: Continuidad en Banda C (320 FSUs)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Los amplificadores ópticos EDFA operan en Banda C (4.0 THz ÷ 12.5 GHz = 320 FSUs fijos por fibra).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Conectar enlaces SMF y HCF sin conversión de longitud de onda exige mantener exactamente los mismos 320 slots.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HCF NO añade ranuras espectrales: reduce la atenuación (0.14 dB/km) y el coeficiente no lineal Kerr (γ ≈ 0).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Esto eleva el GSNR en +4.0 dB por span, habilitando modulaciones de orden superior que comprimen los FSUs por conexión.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703320"/>
            <a:ext cx="5257800" cy="2697480"/>
          </a:xfrm>
          <a:prstGeom prst="roundRect">
            <a:avLst>
              <a:gd name="adj" fmla="val 3000"/>
            </a:avLst>
          </a:prstGeom>
          <a:solidFill>
            <a:srgbClr val="D1FAE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3831335"/>
            <a:ext cx="4928616" cy="2478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059669"/>
                </a:solidFill>
                <a:latin typeface="Calibri"/>
              </a:defRPr>
            </a:pPr>
            <a:r>
              <a:t>Ecuación de Acumulación Paralela Inversa de GSNR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Fórmula física extremo a extremo (Pedro et al. [1], [3]):</a:t>
            </a:r>
            <a:br/>
            <a:r>
              <a:t>   GSNR_ruta(p)⁻¹ = (N_SMF / GSNR_1,SMF) + (N_HCF / GSNR_1,HCF)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Calibración en Banda C para spans estándar de L_span = 100 km:</a:t>
            </a:r>
            <a:br/>
            <a:r>
              <a:t>   • GSNR_1,SMF = 26.44 dB  (440.55 en escala lineal)</a:t>
            </a:r>
            <a:br/>
            <a:r>
              <a:t>   • ΔSNR_HCF   = +4.00 dB  →  GSNR_1,HCF = 30.44 dB (1106.62 lineal)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Selección EON: Se elige el formato m de mayor eficiencia espectral cuyo umbral cumpla GSNR_ruta(p) ≥ SNR_th(m) + 1 FSU de banda de guarda (G = 1).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115568"/>
            <a:ext cx="5925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Tabla Oficial de Formatos de Modulación, Umbrales SNR y Consumo de FSUs (Sección 4)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852160" y="1463040"/>
          <a:ext cx="5925312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658368"/>
                <a:gridCol w="777240"/>
                <a:gridCol w="786384"/>
                <a:gridCol w="512064"/>
                <a:gridCol w="512064"/>
                <a:gridCol w="530352"/>
                <a:gridCol w="566928"/>
                <a:gridCol w="621792"/>
              </a:tblGrid>
              <a:tr h="555171"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Formato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Eficiencia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SNR_th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Spans SMF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10G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40G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100G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400G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1000G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555171"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BPSK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 b/s/Hz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5.3 dB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QPSK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 b/s/Hz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8.3 dB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</a:tr>
              <a:tr h="555171"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8-QAM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 b/s/Hz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11.4 dB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16-QAM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 b/s/Hz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14.0 dB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</a:tr>
              <a:tr h="555171"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32-QAM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5 b/s/Hz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16.7 dB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55174"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64-QAM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 b/s/Hz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19.2 dB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852160" y="5468112"/>
            <a:ext cx="5925312" cy="932688"/>
          </a:xfrm>
          <a:prstGeom prst="roundRect">
            <a:avLst>
              <a:gd name="adj" fmla="val 3000"/>
            </a:avLst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16752" y="5596128"/>
            <a:ext cx="5596128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B45309"/>
                </a:solidFill>
                <a:latin typeface="Calibri"/>
              </a:defRPr>
            </a:pPr>
            <a:r>
              <a:t>Efecto Clave en 400 Gbps (Filas resaltadas):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Al migrar una ruta larga de QPSK (SNR ≥ 8.3 dB) a 16-QAM (SNR ≥ 14.0 dB), el requerimiento cae de 16 FSUs a 8 FSUs (−50% de espectro en todos los enlaces de la ruta).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537960"/>
            <a:ext cx="113659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Calibri"/>
              </a:defRPr>
            </a:pPr>
            <a:r>
              <a:t>TEL-317 Redes Ópticas WDM (UTFSM)  |  Taller 3: Migración Progresiva SMF a HCF en EON  |  Manríquez · Zamora · Abde  |  Diapositiva 3 de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91695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77824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3. Validación de Capa Física (TEST-02): Saltos de Modulación y Ahorro de FSUs</a:t>
            </a:r>
          </a:p>
          <a:p>
            <a:pPr>
              <a:defRPr sz="1150">
                <a:solidFill>
                  <a:srgbClr val="CBD5E1"/>
                </a:solidFill>
                <a:latin typeface="Calibri"/>
              </a:defRPr>
            </a:pPr>
            <a:r>
              <a:t>Verificación analítica y experimental de rutas SMF, Híbridas (50/50) y HCF a 400 Gbps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201168"/>
            <a:ext cx="2468880" cy="5303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PARTE A: 40 PTS</a:t>
            </a:r>
            <a:br/>
            <a:r>
              <a:t>Min 3:15 – 4:00</a:t>
            </a:r>
          </a:p>
        </p:txBody>
      </p:sp>
      <p:pic>
        <p:nvPicPr>
          <p:cNvPr id="6" name="Picture 5" descr="fig1_validacion_gsn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6720840" cy="28003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269480" y="1143000"/>
            <a:ext cx="4507992" cy="2514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34072" y="1271016"/>
            <a:ext cx="4178807" cy="2295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0284C7"/>
                </a:solidFill>
                <a:latin typeface="Calibri"/>
              </a:defRPr>
            </a:pPr>
            <a:r>
              <a:t>Caso 1: Ruta Dorsal 1800 km (18 spans @ 400G)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100% SMF (18 SMF, 0 HCF):</a:t>
            </a:r>
            <a:br/>
            <a:r>
              <a:t>   GSNR = 13.89 dB  →  8-QAM (11 FSUs + 1 guarda)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Híbrida 50/50 (9 SMF + 9 HCF):</a:t>
            </a:r>
            <a:br/>
            <a:r>
              <a:t>   GSNR = 15.44 dB  →  16-QAM (8 FSUs + 1 guarda)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100% HCF (0 SMF, 18 HCF):</a:t>
            </a:r>
            <a:br/>
            <a:r>
              <a:t>   GSNR = 17.89 dB  →  32-QAM (7 FSUs + 1 guarda)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Resultado: Migrar solo la mitad de la ruta basta para superar el umbral de 14.0 dB y saltar a 16-QAM.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3794760"/>
            <a:ext cx="4507992" cy="2606040"/>
          </a:xfrm>
          <a:prstGeom prst="roundRect">
            <a:avLst>
              <a:gd name="adj" fmla="val 3000"/>
            </a:avLst>
          </a:prstGeom>
          <a:solidFill>
            <a:srgbClr val="D1FAE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34072" y="3922776"/>
            <a:ext cx="4178807" cy="2386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059669"/>
                </a:solidFill>
                <a:latin typeface="Calibri"/>
              </a:defRPr>
            </a:pPr>
            <a:r>
              <a:t>Caso 2: Ruta Costa a Costa 3600 km (36 spans @ 400G)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100% SMF (36 SMF, 0 HCF):</a:t>
            </a:r>
            <a:br/>
            <a:r>
              <a:t>   GSNR = 10.88 dB  →  QPSK (16 FSUs + 1 guarda)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Híbrida 50/50 (18 SMF + 18 HCF):</a:t>
            </a:r>
            <a:br/>
            <a:r>
              <a:t>   GSNR = 12.43 dB  →  8-QAM (11 FSUs + 1 guarda)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100% HCF (0 SMF, 36 HCF):</a:t>
            </a:r>
            <a:br/>
            <a:r>
              <a:t>   GSNR = 14.88 dB  →  16-QAM (8 FSUs + 1 guarda)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Resultado: Reducción exacta del 50% en FSUs de payload (de 16 a 8 slots) en cada enlace atravesado.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37960"/>
            <a:ext cx="113659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Calibri"/>
              </a:defRPr>
            </a:pPr>
            <a:r>
              <a:t>TEL-317 Redes Ópticas WDM (UTFSM)  |  Taller 3: Migración Progresiva SMF a HCF en EON  |  Manríquez · Zamora · Abde  |  Diapositiva 4 de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91695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77824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4. Topología NSFNet, Motor RMLSA Estático y Auditoría TEST-01</a:t>
            </a:r>
          </a:p>
          <a:p>
            <a:pPr>
              <a:defRPr sz="1150">
                <a:solidFill>
                  <a:srgbClr val="CBD5E1"/>
                </a:solidFill>
                <a:latin typeface="Calibri"/>
              </a:defRPr>
            </a:pPr>
            <a:r>
              <a:t>Arquitectura modular en Python, algoritmo k-SP + First-Fit Vectorial y verificación en Año Base k = 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201168"/>
            <a:ext cx="2468880" cy="5303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PARTE A: 40 PTS</a:t>
            </a:r>
            <a:br/>
            <a:r>
              <a:t>Min 4:00 – 5:00</a:t>
            </a:r>
          </a:p>
        </p:txBody>
      </p:sp>
      <p:pic>
        <p:nvPicPr>
          <p:cNvPr id="6" name="Picture 5" descr="fig0_topologia_nsf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6355080" cy="372193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903720" y="1143000"/>
            <a:ext cx="4873752" cy="3063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68312" y="1271016"/>
            <a:ext cx="4544568" cy="2843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Pipeline del Motor RMLSA Estático (rmlsa_static.py)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1. Cuantización Monótona de Demanda C(k):</a:t>
            </a:r>
            <a:br/>
            <a:r>
              <a:t>   28 corredores troncales D(0) escalados por (1+r)^k y descompuestos en transpondedores de {400, 100, 40, 10} Gbps.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2. Ordenamiento Determinista:</a:t>
            </a:r>
            <a:br/>
            <a:r>
              <a:t>   Descendente por (Bitrate × Distancia_Ruta_Más_Corta) para priorizar flujos transcontinentales de alta capacidad.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3. Evaluación k-Shortest Paths (k = 3, Yen) + QoT:</a:t>
            </a:r>
            <a:br/>
            <a:r>
              <a:t>   Para cada ruta candidata se calcula GSNR, modulación m y ancho espectral n_FSU + 1 slot de guarda.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4. Asignación First-Fit Vectorial (320 FSUs):</a:t>
            </a:r>
            <a:br/>
            <a:r>
              <a:t>   Intersección booleana de disponibilidad en todos los enlaces de la ruta (Continuidad + Contigüidad estricta).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4343400"/>
            <a:ext cx="4873752" cy="2057400"/>
          </a:xfrm>
          <a:prstGeom prst="roundRect">
            <a:avLst>
              <a:gd name="adj" fmla="val 3000"/>
            </a:avLst>
          </a:prstGeom>
          <a:solidFill>
            <a:srgbClr val="D1FAE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68312" y="4471416"/>
            <a:ext cx="4544568" cy="18379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059669"/>
                </a:solidFill>
                <a:latin typeface="Calibri"/>
              </a:defRPr>
            </a:pPr>
            <a:r>
              <a:t>Auditoría Automática TEST-01 (Año Base k = 0, 100% SMF)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Solicitudes Año k = 0: 71 conexiones ópticas (18.80 Tbps).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Resultado RMLSA: 71 Atendidas (100%) | 0 Conexiones Fuera.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Ocupación global Banda C: 22.99% (Enlace cuello de botella inicial: e7_8 con 65.6% = 210/320 FSUs).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Verificación de Invariantes: 0 colisiones de slots, 100% continuidad extremo a extremo y 100% cumplimiento de umbral GSNR.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37960"/>
            <a:ext cx="113659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Calibri"/>
              </a:defRPr>
            </a:pPr>
            <a:r>
              <a:t>TEL-317 Redes Ópticas WDM (UTFSM)  |  Taller 3: Migración Progresiva SMF a HCF en EON  |  Manríquez · Zamora · Abde  |  Diapositiva 5 de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91695" cy="45720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77824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5. Tres Caminos de Migración a HCF y Modelo Incremental CAPEX</a:t>
            </a:r>
          </a:p>
          <a:p>
            <a:pPr>
              <a:defRPr sz="1150">
                <a:solidFill>
                  <a:srgbClr val="CBD5E1"/>
                </a:solidFill>
                <a:latin typeface="Calibri"/>
              </a:defRPr>
            </a:pPr>
            <a:r>
              <a:t>Formulación técnico-económica para comparar estrategias bajo igualdad de presupuesto (CAPEX ≤ 8500 UR)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201168"/>
            <a:ext cx="2468880" cy="530352"/>
          </a:xfrm>
          <a:prstGeom prst="round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PARTE A / B</a:t>
            </a:r>
            <a:br/>
            <a:r>
              <a:t>Min 5:00 – 5:45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3611880" cy="3337560"/>
          </a:xfrm>
          <a:prstGeom prst="roundRect">
            <a:avLst>
              <a:gd name="adj" fmla="val 3000"/>
            </a:avLst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271016"/>
            <a:ext cx="3282696" cy="3118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0284C7"/>
                </a:solidFill>
                <a:latin typeface="Calibri"/>
              </a:defRPr>
            </a:pPr>
            <a:r>
              <a:t>Camino 1: Reemplazo SMF → HCF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Sustituye la fibra SMF de un enlace existente por fibra HCF en el mismo ducto.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Mantiene 1 enlace de 320 FSUs entre (u, v), pero todos sus spans pasan a tener GSNR_1,HCF = 30.44 dB (+4 dB/span).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Costo de instalación: C_inst = 50 UR (usa ducto existente).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Ventaja: Comprime el número de FSUs por conexión al subir de modulación.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Límite: El techo sigue siendo 320 slots únicos por enlace.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8536" y="1143000"/>
            <a:ext cx="3611880" cy="3337560"/>
          </a:xfrm>
          <a:prstGeom prst="roundRect">
            <a:avLst>
              <a:gd name="adj" fmla="val 3000"/>
            </a:avLst>
          </a:prstGeom>
          <a:solidFill>
            <a:srgbClr val="D1FAE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3128" y="1271016"/>
            <a:ext cx="3282696" cy="3118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059669"/>
                </a:solidFill>
                <a:latin typeface="Calibri"/>
              </a:defRPr>
            </a:pPr>
            <a:r>
              <a:t>Camino 2: Fibra HCF Paralela Activa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Instala una fibra HCF paralela en el mismo ducto SIN apagar la fibra SMF existente (evita dejar dark fiber).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El par (u, v) queda con dos fibras activas: 320 FSUs en HCF + 320 FSUs en SMF.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Costo de instalación: C_inst = 50 UR (mismo ducto existente).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El motor RMLSA prioriza el enlace HCF (mejor GSNR y menos FSUs) y usa la SMF como capacidad de desborde.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5592" y="1143000"/>
            <a:ext cx="3611880" cy="3337560"/>
          </a:xfrm>
          <a:prstGeom prst="roundRect">
            <a:avLst>
              <a:gd name="adj" fmla="val 3000"/>
            </a:avLst>
          </a:prstGeom>
          <a:solidFill>
            <a:srgbClr val="F3E8FF"/>
          </a:solidFill>
          <a:ln w="190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1271016"/>
            <a:ext cx="3282696" cy="3118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7E22CE"/>
                </a:solidFill>
                <a:latin typeface="Calibri"/>
              </a:defRPr>
            </a:pPr>
            <a:r>
              <a:t>Camino 3: Enlace Nuevo Bypass HCF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Crea un enlace directo HCF entre dos nodos no adyacentes de alto tráfico (ej. N4↔N8, N4↔N11, N1↔N11).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Distancia física estimada: L_bypass ≈ 1.15 × distancia euclidiana.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Costo de instalación mayor: C_inst = 150 UR (obra civil / nuevo derecho de paso).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Ventaja: Evita múltiples saltos intermedios SMF, descargando simultáneamente todo el núcleo de la red.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4663440"/>
            <a:ext cx="11365992" cy="1737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4791455"/>
            <a:ext cx="11036808" cy="1517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0F172A"/>
                </a:solidFill>
                <a:latin typeface="Calibri"/>
              </a:defRPr>
            </a:pPr>
            <a:r>
              <a:t>Modelo de Costo Incremental CAPEX y Heurística Voraz de Costo-Beneficio (migration_policies.py)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Fórmula de Costo CAPEX por intervención [Unidades Relativas UR]:</a:t>
            </a:r>
            <a:br/>
            <a:r>
              <a:t>   C(e) = c_km · L(e) + C_amp · N_spans(e) + C_inst(modo)     con  c_km = 1.0 UR/km,  C_amp = 15.0 UR/span,  C_inst ∈ {50 UR ducto, 150 UR bypass}.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Heurística Voraz Anual: En cada año k con bloqueo (N_fuera &gt; 0), evalúa todos los candidatos factibles dentro del presupuesto remanente y selecciona aquel que maximiza la eficiencia de destrabe por unidad monetaria:   e* = argmax [ ΔN_fuera(e) / C(e) ].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Herencia Permanente: Toda fibra HCF instalada en el año k se conserva activa en la topología para los años k+1 ... 8.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537960"/>
            <a:ext cx="113659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Calibri"/>
              </a:defRPr>
            </a:pPr>
            <a:r>
              <a:t>TEL-317 Redes Ópticas WDM (UTFSM)  |  Taller 3: Migración Progresiva SMF a HCF en EON  |  Manríquez · Zamora · Abde  |  Diapositiva 6 de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91695" cy="457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77824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6. Resultados EXP-01: Curva de Saturación en Red 100% SMF (Sin Migración)</a:t>
            </a:r>
          </a:p>
          <a:p>
            <a:pPr>
              <a:defRPr sz="1150">
                <a:solidFill>
                  <a:srgbClr val="CBD5E1"/>
                </a:solidFill>
                <a:latin typeface="Calibri"/>
              </a:defRPr>
            </a:pPr>
            <a:r>
              <a:t>Evolución multi-año (k = 0..8) bajo tasas de crecimiento TeleGeography: r = 24%, r = 30% (Base) y r = 32%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201168"/>
            <a:ext cx="2468880" cy="530352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PARTE B: 50 PTS</a:t>
            </a:r>
            <a:br/>
            <a:r>
              <a:t>Min 5:45 – 6:45</a:t>
            </a:r>
          </a:p>
        </p:txBody>
      </p:sp>
      <p:pic>
        <p:nvPicPr>
          <p:cNvPr id="6" name="Picture 5" descr="fig2_curva_saturacion_sm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6720840" cy="268833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269480" y="1143000"/>
            <a:ext cx="4507992" cy="2834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34072" y="1271016"/>
            <a:ext cx="4178807" cy="2615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E11D48"/>
                </a:solidFill>
                <a:latin typeface="Calibri"/>
              </a:defRPr>
            </a:pPr>
            <a:r>
              <a:t>Análisis de Saturación Espectral (r = 30% Base)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Años k = 0 y k = 1 (0 Conexiones Fuera):</a:t>
            </a:r>
            <a:br/>
            <a:r>
              <a:t>   La red SMF absorbe el crecimiento inicial, pero en k = 1 el enlace central e7_8 llega al 95.6% (306/320 FSUs).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Año k = 2 (Punto de Quiebre — 31 Conexiones Fuera):</a:t>
            </a:r>
            <a:br/>
            <a:r>
              <a:t>   Se agotan los 320 slots en los enlaces dorsales (e7_8 y e6_7 al 100%), rechazando el 21.8% de las conexiones.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Años k = 4 a k = 8 (Colapso de Capacidad):</a:t>
            </a:r>
            <a:br/>
            <a:r>
              <a:t>   • En k = 4: 182 fuera de 263 (69.2% rechazadas).</a:t>
            </a:r>
            <a:br/>
            <a:r>
              <a:t>   • En k = 8: 902 fuera de 1203 (75.0% rechazadas).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4114800"/>
            <a:ext cx="4507992" cy="2286000"/>
          </a:xfrm>
          <a:prstGeom prst="roundRect">
            <a:avLst>
              <a:gd name="adj" fmla="val 3000"/>
            </a:avLst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34072" y="4242816"/>
            <a:ext cx="4178807" cy="20665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B45309"/>
                </a:solidFill>
                <a:latin typeface="Calibri"/>
              </a:defRPr>
            </a:pPr>
            <a:r>
              <a:t>Diagnóstico de Causa de Rechazo (QoT vs. Espectro)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Rechazos por GSNR físico insuficiente (&lt; 5.3 dB): 0%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Rechazos por Saturación/Fragmentación Espectral: 100%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Explicación Física: En NSFNet las rutas SMF cumplen el umbral mínimo BPSK/QPSK, pero al operar en QPSK/8-QAM consumen entre 11 y 16 FSUs por flujo de 400G, llenando rápidamente los 320 slots de Banda 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37960"/>
            <a:ext cx="113659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Calibri"/>
              </a:defRPr>
            </a:pPr>
            <a:r>
              <a:t>TEL-317 Redes Ópticas WDM (UTFSM)  |  Taller 3: Migración Progresiva SMF a HCF en EON  |  Manríquez · Zamora · Abde  |  Diapositiva 7 de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91695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77824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7. Resultados EXP-02 (Camino 1): Heurística Voraz vs. Mayor Utilización</a:t>
            </a:r>
          </a:p>
          <a:p>
            <a:pPr>
              <a:defRPr sz="1150">
                <a:solidFill>
                  <a:srgbClr val="CBD5E1"/>
                </a:solidFill>
                <a:latin typeface="Calibri"/>
              </a:defRPr>
            </a:pPr>
            <a:r>
              <a:t>Evaluación del reemplazo puro SMF → HCF bajo límite de presupuesto CAPEX ≤ 8500 UR (r = 30%)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201168"/>
            <a:ext cx="2468880" cy="5303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PARTE B: 50 PTS</a:t>
            </a:r>
            <a:br/>
            <a:r>
              <a:t>Min 6:45 – 7:45</a:t>
            </a:r>
          </a:p>
        </p:txBody>
      </p:sp>
      <p:pic>
        <p:nvPicPr>
          <p:cNvPr id="6" name="Picture 5" descr="fig3_reemplazo_vs_utiliz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6720840" cy="232989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269480" y="1143000"/>
            <a:ext cx="4507992" cy="2606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34072" y="1271016"/>
            <a:ext cx="4178807" cy="2386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0284C7"/>
                </a:solidFill>
                <a:latin typeface="Calibri"/>
              </a:defRPr>
            </a:pPr>
            <a:r>
              <a:t>Comparación en Camino 1 (Reemplazo SMF → HCF)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Sin Migración (100% SMF):</a:t>
            </a:r>
            <a:br/>
            <a:r>
              <a:t>   2720 Conexiones Fuera acum. | 385.64 Tbps servidos.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Baseline Orden Fijo por Mayor Utilización (8470 UR):</a:t>
            </a:r>
            <a:br/>
            <a:r>
              <a:t>   2416 Conexiones Fuera acum. (-11.2%) | 415.79 Tbps.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Heurística Voraz Costo-Beneficio ΔN_fuera/C(e) (8285 UR):</a:t>
            </a:r>
            <a:br/>
            <a:r>
              <a:t>   2306 Conexiones Fuera acum. (-15.2%) | 439.37 Tbps.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Ventaja de la Heurística Voraz:</a:t>
            </a:r>
            <a:br/>
            <a:r>
              <a:t>   Salva 110 conexiones adicionales y cursa +23.58 Tbps más que el criterio de utilización, gastando menos CAPEX.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3886200"/>
            <a:ext cx="4507992" cy="2514600"/>
          </a:xfrm>
          <a:prstGeom prst="roundRect">
            <a:avLst>
              <a:gd name="adj" fmla="val 3000"/>
            </a:avLst>
          </a:prstGeom>
          <a:solidFill>
            <a:srgbClr val="D1FAE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34072" y="4014215"/>
            <a:ext cx="4178807" cy="2295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059669"/>
                </a:solidFill>
                <a:latin typeface="Calibri"/>
              </a:defRPr>
            </a:pPr>
            <a:r>
              <a:t>¿Por qué la Heurística Voraz supera a Mayor Utilización?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El criterio de Mayor Utilización migra enlaces cortos muy llenos donde las conexiones ya operaban en 16-QAM o 32-QAM; subir allí el GSNR casi no reduce FSUs.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Nuestra Heurística Voraz identifica enlaces dorsales (e3_4, e3_10, e7_8, e6_7) que forman parte de rutas transcontinentales.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Al migrarlos a HCF, decenas de conexiones saltan de QPSK (16 FSUs) a 16-QAM (8 FSUs), liberando espectro en cadena.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37960"/>
            <a:ext cx="113659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Calibri"/>
              </a:defRPr>
            </a:pPr>
            <a:r>
              <a:t>TEL-317 Redes Ópticas WDM (UTFSM)  |  Taller 3: Migración Progresiva SMF a HCF en EON  |  Manríquez · Zamora · Abde  |  Diapositiva 8 de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91695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77824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8. Resultados EXP-03: Comparación de los 3 Caminos bajo Igualdad de CAPEX</a:t>
            </a:r>
          </a:p>
          <a:p>
            <a:pPr>
              <a:defRPr sz="1150">
                <a:solidFill>
                  <a:srgbClr val="CBD5E1"/>
                </a:solidFill>
                <a:latin typeface="Calibri"/>
              </a:defRPr>
            </a:pPr>
            <a:r>
              <a:t>Evaluación integral multi-año (k = 0..8, r = 30%, CAPEX ≤ 8500 UR): Reemplazo vs. HCF Paralela vs. Bypass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201168"/>
            <a:ext cx="2468880" cy="53035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PARTE B: 50 PTS</a:t>
            </a:r>
            <a:br/>
            <a:r>
              <a:t>Min 7:45 – 9:00</a:t>
            </a:r>
          </a:p>
        </p:txBody>
      </p:sp>
      <p:pic>
        <p:nvPicPr>
          <p:cNvPr id="6" name="Picture 5" descr="fig4_comparacion_3_camin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5568"/>
            <a:ext cx="5989320" cy="2306997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10528" y="1143000"/>
          <a:ext cx="5266944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6464"/>
                <a:gridCol w="713232"/>
                <a:gridCol w="658368"/>
                <a:gridCol w="777240"/>
                <a:gridCol w="822960"/>
                <a:gridCol w="868680"/>
              </a:tblGrid>
              <a:tr h="576072"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Estrategia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CAPEX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Fuera k=4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Fuera Acum.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Tbps Serv.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Mejora vs SMF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576072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E11D48"/>
                          </a:solidFill>
                          <a:latin typeface="Calibri"/>
                        </a:defRPr>
                      </a:pPr>
                      <a:r>
                        <a:t>100% SMF (Base)</a:t>
                      </a:r>
                    </a:p>
                  </a:txBody>
                  <a:tcPr anchor="ctr">
                    <a:solidFill>
                      <a:srgbClr val="FFE4E6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 UR</a:t>
                      </a:r>
                    </a:p>
                  </a:txBody>
                  <a:tcPr anchor="ctr">
                    <a:solidFill>
                      <a:srgbClr val="FFE4E6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E11D48"/>
                          </a:solidFill>
                          <a:latin typeface="Calibri"/>
                        </a:defRPr>
                      </a:pPr>
                      <a:r>
                        <a:t>182</a:t>
                      </a:r>
                    </a:p>
                  </a:txBody>
                  <a:tcPr anchor="ctr">
                    <a:solidFill>
                      <a:srgbClr val="FFE4E6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E11D48"/>
                          </a:solidFill>
                          <a:latin typeface="Calibri"/>
                        </a:defRPr>
                      </a:pPr>
                      <a:r>
                        <a:t>2720</a:t>
                      </a:r>
                    </a:p>
                  </a:txBody>
                  <a:tcPr anchor="ctr">
                    <a:solidFill>
                      <a:srgbClr val="FFE4E6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385.6 Tbps</a:t>
                      </a:r>
                    </a:p>
                  </a:txBody>
                  <a:tcPr anchor="ctr">
                    <a:solidFill>
                      <a:srgbClr val="FFE4E6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850" b="1">
                          <a:solidFill>
                            <a:srgbClr val="E11D48"/>
                          </a:solidFill>
                          <a:latin typeface="Calibri"/>
                        </a:defRPr>
                      </a:pPr>
                      <a:r>
                        <a:t>Referencia</a:t>
                      </a:r>
                    </a:p>
                  </a:txBody>
                  <a:tcPr anchor="ctr">
                    <a:solidFill>
                      <a:srgbClr val="FFE4E6"/>
                    </a:solidFill>
                  </a:tcPr>
                </a:tc>
              </a:tr>
              <a:tr h="576072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Camino 1: Reemplazo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8285 UR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119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2306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439.4 Tbps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85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-15.2% blq</a:t>
                      </a:r>
                      <a:br/>
                      <a:r>
                        <a:t>+53.7 Tbps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</a:tr>
              <a:tr h="576072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Camino 2: HCF Paralela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8335 UR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1461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526.9 Tbps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85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-46.3% blq</a:t>
                      </a:r>
                      <a:br/>
                      <a:r>
                        <a:t>+141.3 Tbps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</a:tr>
              <a:tr h="576072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7E22CE"/>
                          </a:solidFill>
                          <a:latin typeface="Calibri"/>
                        </a:defRPr>
                      </a:pPr>
                      <a:r>
                        <a:t>Camino 3: Bypass HCF</a:t>
                      </a:r>
                    </a:p>
                  </a:txBody>
                  <a:tcPr anchor="ctr">
                    <a:solidFill>
                      <a:srgbClr val="F3E8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7810 UR</a:t>
                      </a:r>
                    </a:p>
                  </a:txBody>
                  <a:tcPr anchor="ctr">
                    <a:solidFill>
                      <a:srgbClr val="F3E8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7E22CE"/>
                          </a:solidFill>
                          <a:latin typeface="Calibri"/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F3E8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50" b="1">
                          <a:solidFill>
                            <a:srgbClr val="7E22CE"/>
                          </a:solidFill>
                          <a:latin typeface="Calibri"/>
                        </a:defRPr>
                      </a:pPr>
                      <a:r>
                        <a:t>1738</a:t>
                      </a:r>
                    </a:p>
                  </a:txBody>
                  <a:tcPr anchor="ctr">
                    <a:solidFill>
                      <a:srgbClr val="F3E8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492.6 Tbps</a:t>
                      </a:r>
                    </a:p>
                  </a:txBody>
                  <a:tcPr anchor="ctr">
                    <a:solidFill>
                      <a:srgbClr val="F3E8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850" b="1">
                          <a:solidFill>
                            <a:srgbClr val="7E22CE"/>
                          </a:solidFill>
                          <a:latin typeface="Calibri"/>
                        </a:defRPr>
                      </a:pPr>
                      <a:r>
                        <a:t>-36.1% blq</a:t>
                      </a:r>
                      <a:br/>
                      <a:r>
                        <a:t>+107.0 Tbps</a:t>
                      </a:r>
                    </a:p>
                  </a:txBody>
                  <a:tcPr anchor="ctr">
                    <a:solidFill>
                      <a:srgbClr val="F3E8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510528" y="4160520"/>
            <a:ext cx="5266944" cy="2240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4288536"/>
            <a:ext cx="4937759" cy="2020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Hallazgos Físicos y de Ingeniería de Red (EXP-03)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Calibri"/>
              </a:defRPr>
            </a:pPr>
            <a:r>
              <a:t>• 1. Camino 2 (HCF Paralela) es el ganador absoluto: Al no apagar la SMF (evitando dark fiber), suma 320 FSUs de alto GSNR sobre los cuellos de botella, logrando 0 Conexiones Fuera hasta el año k = 4 y reduciendo el bloqueo acumulado en -46.3% (+141.3 Tbps servidos).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Calibri"/>
              </a:defRPr>
            </a:pPr>
            <a:r>
              <a:t>• 2. Camino 3 (Bypass Directo) logra el 2° mejor desempeño con menor CAPEX (7810 UR): Instalar solo 3 enlaces directos largos (e4_8, e4_11, e1_11) descarga múltiples saltos centrales SMF a la vez (-36.1% de rechazos).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Calibri"/>
              </a:defRPr>
            </a:pPr>
            <a:r>
              <a:t>• 3. Camino 1 (Reemplazo) mejora la eficiencia espectral, pero en alta carga (k ≥ 5) choca contra el límite único de 320 slots por enlace.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37960"/>
            <a:ext cx="113659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Calibri"/>
              </a:defRPr>
            </a:pPr>
            <a:r>
              <a:t>TEL-317 Redes Ópticas WDM (UTFSM)  |  Taller 3: Migración Progresiva SMF a HCF en EON  |  Manríquez · Zamora · Abde  |  Diapositiva 9 de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91695" cy="45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77824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9. Conclusiones Preliminares y Hoja de Ruta hacia el Informe Final</a:t>
            </a:r>
          </a:p>
          <a:p>
            <a:pPr>
              <a:defRPr sz="1150">
                <a:solidFill>
                  <a:srgbClr val="CBD5E1"/>
                </a:solidFill>
                <a:latin typeface="Calibri"/>
              </a:defRPr>
            </a:pPr>
            <a:r>
              <a:t>Síntesis de hallazgos del Taller 3, verificación de entregables y trabajo proyectado para el cierre del curso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201168"/>
            <a:ext cx="2468880" cy="53035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CIERRE Y Q&amp;A</a:t>
            </a:r>
            <a:br/>
            <a:r>
              <a:t>Min 9:00 – 10:00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5532120" cy="3337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271016"/>
            <a:ext cx="5202936" cy="3118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059669"/>
                </a:solidFill>
                <a:latin typeface="Calibri"/>
              </a:defRPr>
            </a:pPr>
            <a:r>
              <a:t>Conclusiones Técnicas Validadas en este Avance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1. Simulador Estático EON 100% Operativo:</a:t>
            </a:r>
            <a:br/>
            <a:r>
              <a:t>   Integra cálculo exacto de GSNR por suma paralela inversa, grilla fija de 320 FSUs en Banda C y ruteo k-SP + First-Fit sin colisiones.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2. Valor de la Compresión Espectral (HCF):</a:t>
            </a:r>
            <a:br/>
            <a:r>
              <a:t>   La ganancia de +4.0 dB/span permite saltar de QPSK a 16-QAM en rutas transcontinentales, reduciendo a la mitad los FSUs requeridos.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3. Superioridad de Camino 2 y Camino 3 en Alta Congestión:</a:t>
            </a:r>
            <a:br/>
            <a:r>
              <a:t>   En igualdad de CAPEX, conservar la SMF activa junto a HCF paralela (Camino 2, -46.3% rechazos) o crear atajos ópticos directos (Camino 3, -36.1% rechazos) triplica el beneficio del reemplazo puro (Camino 1, -15.2%).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43000"/>
            <a:ext cx="5559552" cy="3337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271016"/>
            <a:ext cx="5230368" cy="3118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0284C7"/>
                </a:solidFill>
                <a:latin typeface="Calibri"/>
              </a:defRPr>
            </a:pPr>
            <a:r>
              <a:t>Hoja de Ruta para el Informe Final (Próximos Pasos)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1. Segunda Topología de Transporte (COST239 Europea):</a:t>
            </a:r>
            <a:br/>
            <a:r>
              <a:t>   Ejecutar los experimentos EXP-01 a EXP-03 sobre COST239 (11 nodos, 26 enlaces, alta conectividad mallada), ya integrada en data/topologies.json.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2. Sensibilidad Paramétrica de Costos CAPEX:</a:t>
            </a:r>
            <a:br/>
            <a:r>
              <a:t>   Evaluar el punto de equilibrio económico variando el sobrecosto de obra civil (C_inst) del Camino 3 frente al Camino 2.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3. Estrategia Híbrida Combinada (Camino 1 + 2 + 3):</a:t>
            </a:r>
            <a:br/>
            <a:r>
              <a:t>   Permitir que el planificador voraz combine enlaces paralelos en el núcleo y bypasses costa a costa en un mismo portafolio anual.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4663440"/>
            <a:ext cx="11365992" cy="1691640"/>
          </a:xfrm>
          <a:prstGeom prst="roundRect">
            <a:avLst>
              <a:gd name="adj" fmla="val 3000"/>
            </a:avLst>
          </a:prstGeom>
          <a:solidFill>
            <a:srgbClr val="D1FAE5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4791455"/>
            <a:ext cx="11036808" cy="1472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250" b="1">
                <a:solidFill>
                  <a:srgbClr val="0F172A"/>
                </a:solidFill>
                <a:latin typeface="Calibri"/>
              </a:defRPr>
            </a:pPr>
            <a:r>
              <a:t>Checklist de Cumplimiento de Evaluación — Taller 3 (100% Completado)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• ✔ Parte C (10 pts): Reajuste metodológico completo (Fotografías estáticas k=0..8, Conexiones Fuera, TeleGeography 24%/30%/32%).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• ✔ Parte A (40 pts): Modelo físico GSNR + Invariante 320 FSUs + Motor RMLSA k-SP First-Fit + Demo Interactiva (dashboard_simulador_taller3.html).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• ✔ Parte B (50 pts): Resultados multi-año completos (EXP-01, EXP-02 y EXP-03) comparando los 3 Caminos bajo igualdad de CAPEX.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37960"/>
            <a:ext cx="113659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Calibri"/>
              </a:defRPr>
            </a:pPr>
            <a:r>
              <a:t>TEL-317 Redes Ópticas WDM (UTFSM)  |  Taller 3: Migración Progresiva SMF a HCF en EON  |  Manríquez · Zamora · Abde  |  Diapositiva 10 de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